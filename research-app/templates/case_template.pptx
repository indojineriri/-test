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88" r:id="rId1"/>
  </p:sldMasterIdLst>
  <p:notesMasterIdLst>
    <p:notesMasterId r:id="rId3"/>
  </p:notesMasterIdLst>
  <p:handoutMasterIdLst>
    <p:handoutMasterId r:id="rId4"/>
  </p:handoutMasterIdLst>
  <p:sldIdLst>
    <p:sldId id="368" r:id="rId2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背景・目的" id="{F944D959-6D67-4742-B85B-D3750A2F89D0}">
          <p14:sldIdLst/>
        </p14:section>
        <p14:section name="オファリング目次の想定" id="{9B104DCB-FA0E-41E3-84EF-D58B1BA7496D}">
          <p14:sldIdLst/>
        </p14:section>
        <p14:section name="アプローチ" id="{69A7FDE8-CE9C-47AB-BF81-2FC770727EA8}">
          <p14:sldIdLst/>
        </p14:section>
        <p14:section name="先進ユースケース一覧" id="{AB4B3561-2872-4A8A-98CC-FB9B3F4CFA0F}">
          <p14:sldIdLst/>
        </p14:section>
        <p14:section name="先進ユースケース調査" id="{F62BEF94-7C6C-40A3-8E89-2E12539CF40B}">
          <p14:sldIdLst/>
        </p14:section>
        <p14:section name="基盤モデル調査" id="{1401919C-4B42-4567-80F7-347A06EB6FAA}">
          <p14:sldIdLst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56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1B27"/>
    <a:srgbClr val="213540"/>
    <a:srgbClr val="E7161D"/>
    <a:srgbClr val="F39194"/>
    <a:srgbClr val="0B286E"/>
    <a:srgbClr val="002C51"/>
    <a:srgbClr val="FFF9E5"/>
    <a:srgbClr val="F0EBF1"/>
    <a:srgbClr val="EFFFF7"/>
    <a:srgbClr val="D9FF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68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08" y="120"/>
      </p:cViewPr>
      <p:guideLst>
        <p:guide pos="3840"/>
        <p:guide orient="horz" pos="356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2026/5/26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/>
              <a:t>© SIGMAXYZ 2009.06.16</a:t>
            </a:r>
            <a:r>
              <a:rPr kumimoji="1" lang="ja-JP" altLang="en-US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2026/5/26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/>
              <a:t>© SIGMAXYZ 2009.06.16</a:t>
            </a:r>
            <a:r>
              <a:rPr kumimoji="1" lang="ja-JP" altLang="en-US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0.gi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0.gi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  <a:endParaRPr kumimoji="1" lang="en-US" altLang="ja-JP"/>
          </a:p>
          <a:p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68380464-EF63-9A6D-4CF3-E23C903DF21D}"/>
              </a:ext>
            </a:extLst>
          </p:cNvPr>
          <p:cNvGrpSpPr/>
          <p:nvPr userDrawn="1"/>
        </p:nvGrpSpPr>
        <p:grpSpPr>
          <a:xfrm>
            <a:off x="911225" y="2067098"/>
            <a:ext cx="10369550" cy="4382422"/>
            <a:chOff x="0" y="1930616"/>
            <a:chExt cx="12192000" cy="3821373"/>
          </a:xfrm>
        </p:grpSpPr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7CA377D3-94D3-AC42-A937-F0294543DC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930616"/>
              <a:ext cx="12192000" cy="3723614"/>
            </a:xfrm>
            <a:prstGeom prst="rect">
              <a:avLst/>
            </a:prstGeom>
          </p:spPr>
        </p:pic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2C334DB3-FF09-E60B-8C2A-58342EF34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  <a14:imgEffect>
                        <a14:saturation sat="200000"/>
                      </a14:imgEffect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910576" y="2992581"/>
              <a:ext cx="4370846" cy="2759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5982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>
          <p15:clr>
            <a:srgbClr val="FBAE40"/>
          </p15:clr>
        </p15:guide>
        <p15:guide id="2" pos="4021">
          <p15:clr>
            <a:srgbClr val="FBAE40"/>
          </p15:clr>
        </p15:guide>
        <p15:guide id="3" orient="horz" pos="890">
          <p15:clr>
            <a:srgbClr val="FBAE40"/>
          </p15:clr>
        </p15:guide>
        <p15:guide id="4" orient="horz" pos="1298">
          <p15:clr>
            <a:srgbClr val="FBAE40"/>
          </p15:clr>
        </p15:guide>
        <p15:guide id="5" orient="horz" pos="397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  <a:endParaRPr kumimoji="1" lang="en-US" altLang="ja-JP"/>
          </a:p>
          <a:p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522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>
          <p15:clr>
            <a:srgbClr val="FBAE40"/>
          </p15:clr>
        </p15:guide>
        <p15:guide id="2" pos="4021">
          <p15:clr>
            <a:srgbClr val="FBAE40"/>
          </p15:clr>
        </p15:guide>
        <p15:guide id="3" orient="horz" pos="981">
          <p15:clr>
            <a:srgbClr val="FBAE40"/>
          </p15:clr>
        </p15:guide>
        <p15:guide id="4" orient="horz" pos="129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470337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/>
              <a:t>目次・アジェンダページ（写真あり）</a:t>
            </a: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942538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934ED805-72D3-50AD-D2D2-6FBB8EE521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13781" y="404812"/>
            <a:ext cx="4895537" cy="60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627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>
          <p15:clr>
            <a:srgbClr val="FBAE40"/>
          </p15:clr>
        </p15:guide>
        <p15:guide id="2" pos="4021">
          <p15:clr>
            <a:srgbClr val="FBAE40"/>
          </p15:clr>
        </p15:guide>
        <p15:guide id="3" orient="horz" pos="89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941660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764784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90">
          <p15:clr>
            <a:srgbClr val="FBAE40"/>
          </p15:clr>
        </p15:guide>
        <p15:guide id="3" orient="horz" pos="125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92282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  <p15:guide id="2" orient="horz" pos="179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コンテンツページ（ヘッドラインあり）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298686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コンテンツページ（ヘッドラインあり／</a:t>
            </a:r>
            <a:r>
              <a:rPr kumimoji="1" lang="en-US" altLang="ja-JP"/>
              <a:t>Confidential </a:t>
            </a:r>
            <a:r>
              <a:rPr kumimoji="1" lang="ja-JP" altLang="en-US"/>
              <a:t>）</a:t>
            </a:r>
            <a:endParaRPr kumimoji="1" lang="en-US" altLang="ja-JP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198772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コンテンツページ（ヘッドラインあり／</a:t>
            </a:r>
            <a:r>
              <a:rPr kumimoji="1" lang="en-US" altLang="ja-JP"/>
              <a:t>Internal Use Only </a:t>
            </a:r>
            <a:r>
              <a:rPr kumimoji="1" lang="ja-JP" altLang="en-US"/>
              <a:t>）</a:t>
            </a:r>
            <a:endParaRPr kumimoji="1" lang="en-US" altLang="ja-JP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321871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コンテンツページ（ヘッドラインあり／</a:t>
            </a:r>
            <a:r>
              <a:rPr kumimoji="1" lang="en-US" altLang="ja-JP"/>
              <a:t>Strictly Confidential </a:t>
            </a:r>
            <a:r>
              <a:rPr kumimoji="1" lang="ja-JP" altLang="en-US"/>
              <a:t>）</a:t>
            </a:r>
            <a:endParaRPr kumimoji="1" lang="en-US" altLang="ja-JP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172568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/>
              <a:t>コンテンツページ（ヘッドラインなし）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3864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/>
              <a:t>コンテンツページ（ヘッドラインなし</a:t>
            </a:r>
            <a:r>
              <a:rPr kumimoji="1" lang="ja-JP" altLang="en-US"/>
              <a:t>／</a:t>
            </a:r>
            <a:r>
              <a:rPr kumimoji="1" lang="en-US" altLang="ja-JP"/>
              <a:t>Confidential </a:t>
            </a:r>
            <a:r>
              <a:rPr lang="ja-JP" altLang="en-US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024108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/>
              <a:t>コンテンツページ（ヘッドラインなし</a:t>
            </a:r>
            <a:r>
              <a:rPr kumimoji="1" lang="ja-JP" altLang="en-US"/>
              <a:t>／</a:t>
            </a:r>
            <a:r>
              <a:rPr kumimoji="1" lang="en-US" altLang="ja-JP"/>
              <a:t>Internal Use Only </a:t>
            </a:r>
            <a:r>
              <a:rPr lang="ja-JP" altLang="en-US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69107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/>
              <a:t>コンテンツページ（ヘッドラインなし</a:t>
            </a:r>
            <a:r>
              <a:rPr kumimoji="1" lang="ja-JP" altLang="en-US"/>
              <a:t>／</a:t>
            </a:r>
            <a:r>
              <a:rPr kumimoji="1" lang="en-US" altLang="ja-JP"/>
              <a:t>Strictly Confidential </a:t>
            </a:r>
            <a:r>
              <a:rPr lang="ja-JP" altLang="en-US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97738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63EAA4A-5F06-2220-A5E9-13C19753003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978"/>
          <a:stretch>
            <a:fillRect/>
          </a:stretch>
        </p:blipFill>
        <p:spPr>
          <a:xfrm>
            <a:off x="911225" y="730421"/>
            <a:ext cx="10369551" cy="428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53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  <p15:guide id="2" orient="horz" pos="482">
          <p15:clr>
            <a:srgbClr val="FBAE40"/>
          </p15:clr>
        </p15:guide>
        <p15:guide id="3" orient="horz" pos="315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684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/>
              <a:t>エンドスライド（写真あり＿</a:t>
            </a:r>
            <a:r>
              <a:rPr kumimoji="1" lang="en-US" altLang="ja-JP"/>
              <a:t>P</a:t>
            </a:r>
            <a:r>
              <a:rPr kumimoji="1" lang="ja-JP" altLang="en-US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3165018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249">
          <p15:clr>
            <a:srgbClr val="FBAE40"/>
          </p15:clr>
        </p15:guide>
        <p15:guide id="4" orient="horz" pos="315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/>
              <a:t>エンドスライド（写真なし＿</a:t>
            </a:r>
            <a:r>
              <a:rPr kumimoji="1" lang="en-US" altLang="ja-JP"/>
              <a:t>P</a:t>
            </a:r>
            <a:r>
              <a:rPr kumimoji="1" lang="ja-JP" altLang="en-US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558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コンテンツページ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21320C78-DAE0-2D4B-86D9-E48C03FBB3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180000"/>
            <a:ext cx="10369550" cy="792162"/>
          </a:xfrm>
        </p:spPr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コンテンツページ（</a:t>
            </a:r>
            <a:r>
              <a:rPr kumimoji="1" lang="en-US" altLang="ja-JP"/>
              <a:t>Internal Use Only</a:t>
            </a:r>
            <a:r>
              <a:rPr kumimoji="1" lang="ja-JP" altLang="en-US"/>
              <a:t>）</a:t>
            </a:r>
          </a:p>
        </p:txBody>
      </p:sp>
      <p:sp>
        <p:nvSpPr>
          <p:cNvPr id="10" name="テキスト プレースホルダー 2">
            <a:extLst>
              <a:ext uri="{FF2B5EF4-FFF2-40B4-BE49-F238E27FC236}">
                <a16:creationId xmlns:a16="http://schemas.microsoft.com/office/drawing/2014/main" id="{D2A1DB35-7648-7B4A-B2CC-C9C8AFB244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2284" y="1412876"/>
            <a:ext cx="10368491" cy="504031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30CA09E6-4D6F-B162-A2F1-0DE34936DD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450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sp>
        <p:nvSpPr>
          <p:cNvPr id="4" name="スライド番号プレースホルダ 5">
            <a:extLst>
              <a:ext uri="{FF2B5EF4-FFF2-40B4-BE49-F238E27FC236}">
                <a16:creationId xmlns:a16="http://schemas.microsoft.com/office/drawing/2014/main" id="{6BB7F208-E549-18D0-A1C3-18B3F979A31C}"/>
              </a:ext>
            </a:extLst>
          </p:cNvPr>
          <p:cNvSpPr txBox="1">
            <a:spLocks/>
          </p:cNvSpPr>
          <p:nvPr userDrawn="1"/>
        </p:nvSpPr>
        <p:spPr>
          <a:xfrm>
            <a:off x="8602428" y="6525430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090036-EBBF-4B93-956E-A4D69D49721E}" type="slidenum">
              <a:rPr lang="ja-JP" altLang="en-US" sz="1600" smtClean="0"/>
              <a:pPr/>
              <a:t>‹#›</a:t>
            </a:fld>
            <a:endParaRPr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65803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>
          <p15:clr>
            <a:srgbClr val="F26B43"/>
          </p15:clr>
        </p15:guide>
        <p15:guide id="2" pos="2147">
          <p15:clr>
            <a:srgbClr val="F26B43"/>
          </p15:clr>
        </p15:guide>
        <p15:guide id="3" orient="horz" pos="255">
          <p15:clr>
            <a:srgbClr val="F26B43"/>
          </p15:clr>
        </p15:guide>
        <p15:guide id="4" pos="7106">
          <p15:clr>
            <a:srgbClr val="F26B43"/>
          </p15:clr>
        </p15:guide>
        <p15:guide id="5" orient="horz" pos="4065">
          <p15:clr>
            <a:srgbClr val="F26B43"/>
          </p15:clr>
        </p15:guide>
        <p15:guide id="6" pos="574">
          <p15:clr>
            <a:srgbClr val="F26B43"/>
          </p15:clr>
        </p15:guide>
        <p15:guide id="7" orient="horz" pos="2160">
          <p15:clr>
            <a:srgbClr val="F26B43"/>
          </p15:clr>
        </p15:guide>
        <p15:guide id="8" pos="5533">
          <p15:clr>
            <a:srgbClr val="F26B43"/>
          </p15:clr>
        </p15:guide>
        <p15:guide id="9" pos="7242">
          <p15:clr>
            <a:srgbClr val="F26B43"/>
          </p15:clr>
        </p15:guide>
        <p15:guide id="10" orient="horz" pos="1389">
          <p15:clr>
            <a:srgbClr val="F26B43"/>
          </p15:clr>
        </p15:guide>
        <p15:guide id="11" orient="horz" pos="3113">
          <p15:clr>
            <a:srgbClr val="F26B43"/>
          </p15:clr>
        </p15:guide>
        <p15:guide id="12" orient="horz" pos="3748">
          <p15:clr>
            <a:srgbClr val="F26B43"/>
          </p15:clr>
        </p15:guide>
        <p15:guide id="13" pos="4021">
          <p15:clr>
            <a:srgbClr val="F26B43"/>
          </p15:clr>
        </p15:guide>
        <p15:guide id="14" pos="365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x.tech/discover/world-model-self-learning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13278-681C-50CC-D132-DA4196EE8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FB8FDA21-E6A0-09AB-5A74-095053073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事例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-</a:t>
            </a:r>
            <a:r>
              <a:rPr lang="en-US" altLang="ja-JP" dirty="0"/>
              <a:t> </a:t>
            </a:r>
            <a:r>
              <a:rPr lang="ja-JP" altLang="en-US" b="1" dirty="0"/>
              <a:t>巨大動画モデル</a:t>
            </a:r>
            <a:r>
              <a:rPr lang="en-US" altLang="ja-JP" b="1" dirty="0"/>
              <a:t>/</a:t>
            </a:r>
            <a:r>
              <a:rPr lang="ja-JP" altLang="en-US" b="1" dirty="0"/>
              <a:t>世界モデル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：</a:t>
            </a:r>
            <a:r>
              <a:rPr lang="en-US" altLang="ja-JP" b="1" dirty="0"/>
              <a:t> </a:t>
            </a:r>
            <a:r>
              <a:rPr lang="en-US" altLang="ja-JP" dirty="0"/>
              <a:t>Cosmos Predict 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-</a:t>
            </a:r>
            <a:endParaRPr lang="ja-JP" alt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60BCA72-F28A-7BB4-91B7-7EC750CFB839}"/>
              </a:ext>
            </a:extLst>
          </p:cNvPr>
          <p:cNvSpPr txBox="1"/>
          <p:nvPr/>
        </p:nvSpPr>
        <p:spPr>
          <a:xfrm>
            <a:off x="480000" y="623999"/>
            <a:ext cx="11280000" cy="58938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192000" tIns="48000" rIns="96000" bIns="48000" rtlCol="0" anchor="t">
            <a:spAutoFit/>
          </a:bodyPr>
          <a:lstStyle/>
          <a:p>
            <a:r>
              <a:rPr lang="ja-JP" altLang="en-US" sz="1600" dirty="0"/>
              <a:t>動画モデルから合成データを生成して学習に活用する仕組みにより、家庭用ヒューマノイド</a:t>
            </a:r>
            <a:r>
              <a:rPr lang="en-US" altLang="ja-JP" sz="1600" dirty="0"/>
              <a:t>NEO</a:t>
            </a:r>
            <a:r>
              <a:rPr lang="ja-JP" altLang="en-US" sz="1600" dirty="0"/>
              <a:t>が訓練データに無い未知タスク</a:t>
            </a:r>
            <a:br>
              <a:rPr lang="en-US" altLang="ja-JP" sz="1600" dirty="0"/>
            </a:br>
            <a:r>
              <a:rPr lang="ja-JP" altLang="en-US" sz="1600" dirty="0"/>
              <a:t>にもプロンプトのみで対応</a:t>
            </a:r>
            <a:endParaRPr lang="ja-JP" altLang="en-US" sz="1600" dirty="0"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0EC0697B-620B-E001-CD51-861F0E813E33}"/>
              </a:ext>
            </a:extLst>
          </p:cNvPr>
          <p:cNvGrpSpPr/>
          <p:nvPr/>
        </p:nvGrpSpPr>
        <p:grpSpPr>
          <a:xfrm>
            <a:off x="656494" y="1412875"/>
            <a:ext cx="10611332" cy="288041"/>
            <a:chOff x="2423490" y="2924930"/>
            <a:chExt cx="3528490" cy="288040"/>
          </a:xfrm>
        </p:grpSpPr>
        <p:sp>
          <p:nvSpPr>
            <p:cNvPr id="74" name="テキスト ボックス 73">
              <a:extLst>
                <a:ext uri="{FF2B5EF4-FFF2-40B4-BE49-F238E27FC236}">
                  <a16:creationId xmlns:a16="http://schemas.microsoft.com/office/drawing/2014/main" id="{AECC86D1-FD4E-82A6-3101-5C223025F5E1}"/>
                </a:ext>
              </a:extLst>
            </p:cNvPr>
            <p:cNvSpPr txBox="1"/>
            <p:nvPr/>
          </p:nvSpPr>
          <p:spPr>
            <a:xfrm>
              <a:off x="2423490" y="2924930"/>
              <a:ext cx="3528490" cy="288040"/>
            </a:xfrm>
            <a:prstGeom prst="rect">
              <a:avLst/>
            </a:prstGeom>
          </p:spPr>
          <p:txBody>
            <a:bodyPr vert="horz" wrap="none" lIns="0" tIns="0" rIns="0" bIns="0" rtlCol="0" anchor="ctr">
              <a:noAutofit/>
            </a:bodyPr>
            <a:lstStyle/>
            <a:p>
              <a:pPr lvl="0" algn="ctr">
                <a:spcBef>
                  <a:spcPts val="600"/>
                </a:spcBef>
                <a:defRPr/>
              </a:pPr>
              <a:r>
                <a:rPr lang="en-US" altLang="ja-JP" sz="1600" dirty="0"/>
                <a:t>1X Technologies NEO × Cosmos</a:t>
              </a:r>
              <a:r>
                <a:rPr lang="ja-JP" altLang="en-US" sz="1600" dirty="0"/>
                <a:t> </a:t>
              </a:r>
              <a:r>
                <a:rPr lang="en-US" altLang="ja-JP" sz="1600" dirty="0"/>
                <a:t>Predict</a:t>
              </a:r>
              <a:endParaRPr lang="en-US" altLang="ja-JP" sz="1600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cxnSp>
          <p:nvCxnSpPr>
            <p:cNvPr id="79" name="直線コネクタ 78">
              <a:extLst>
                <a:ext uri="{FF2B5EF4-FFF2-40B4-BE49-F238E27FC236}">
                  <a16:creationId xmlns:a16="http://schemas.microsoft.com/office/drawing/2014/main" id="{DBEBC765-0530-6C02-2E2F-596779007CAC}"/>
                </a:ext>
              </a:extLst>
            </p:cNvPr>
            <p:cNvCxnSpPr/>
            <p:nvPr/>
          </p:nvCxnSpPr>
          <p:spPr>
            <a:xfrm>
              <a:off x="2423490" y="3212967"/>
              <a:ext cx="3528490" cy="0"/>
            </a:xfrm>
            <a:prstGeom prst="line">
              <a:avLst/>
            </a:prstGeom>
            <a:ln w="19050" cmpd="sng">
              <a:solidFill>
                <a:srgbClr val="000000"/>
              </a:solidFill>
              <a:prstDash val="solid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8CAB0025-DA2D-5C51-B701-C8AD913E0C52}"/>
              </a:ext>
            </a:extLst>
          </p:cNvPr>
          <p:cNvSpPr/>
          <p:nvPr/>
        </p:nvSpPr>
        <p:spPr>
          <a:xfrm>
            <a:off x="656493" y="1772770"/>
            <a:ext cx="1011164" cy="1494766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概要</a:t>
            </a:r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FBDEBBA3-D49E-8232-EAD0-4DB43B0C9B9B}"/>
              </a:ext>
            </a:extLst>
          </p:cNvPr>
          <p:cNvSpPr/>
          <p:nvPr/>
        </p:nvSpPr>
        <p:spPr>
          <a:xfrm>
            <a:off x="656493" y="3367193"/>
            <a:ext cx="1011164" cy="1494766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なぜ難しい</a:t>
            </a:r>
            <a:br>
              <a:rPr kumimoji="1" lang="en-US" altLang="ja-JP" sz="1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のか</a:t>
            </a:r>
          </a:p>
        </p:txBody>
      </p:sp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218B838B-B33E-5DD0-FDB9-073F3600A022}"/>
              </a:ext>
            </a:extLst>
          </p:cNvPr>
          <p:cNvSpPr/>
          <p:nvPr/>
        </p:nvSpPr>
        <p:spPr>
          <a:xfrm>
            <a:off x="656493" y="4958422"/>
            <a:ext cx="1011164" cy="1494766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ja-JP" altLang="en-US" sz="1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解決した</a:t>
            </a:r>
            <a:br>
              <a:rPr lang="en-US" altLang="ja-JP" sz="1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12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技術的課題</a:t>
            </a:r>
          </a:p>
        </p:txBody>
      </p:sp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72375DAC-F08A-FDDE-BB78-B61380B945B9}"/>
              </a:ext>
            </a:extLst>
          </p:cNvPr>
          <p:cNvSpPr/>
          <p:nvPr/>
        </p:nvSpPr>
        <p:spPr>
          <a:xfrm>
            <a:off x="1739667" y="1772789"/>
            <a:ext cx="4457934" cy="149474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sz="1400" dirty="0">
                <a:solidFill>
                  <a:schemeClr val="tx1"/>
                </a:solidFill>
              </a:rPr>
              <a:t>・ユーザの音声・テキスト指示から、</a:t>
            </a:r>
            <a:r>
              <a:rPr lang="en-US" altLang="ja-JP" sz="1400" dirty="0">
                <a:solidFill>
                  <a:schemeClr val="tx1"/>
                </a:solidFill>
              </a:rPr>
              <a:t>NEO</a:t>
            </a:r>
            <a:r>
              <a:rPr lang="ja-JP" altLang="en-US" sz="1400" dirty="0">
                <a:solidFill>
                  <a:schemeClr val="tx1"/>
                </a:solidFill>
              </a:rPr>
              <a:t>が未来動作を動画で予想→実行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sz="1400" dirty="0">
                <a:solidFill>
                  <a:schemeClr val="tx1"/>
                </a:solidFill>
              </a:rPr>
              <a:t>実演タスク：お弁当パッキング、エアフライヤーバスケットの取り外し、トースターへのパン投入、別部屋からの物品取得、トイレ便座操作、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sz="1400" dirty="0">
                <a:solidFill>
                  <a:schemeClr val="tx1"/>
                </a:solidFill>
              </a:rPr>
              <a:t>訓練データに無い未知のタスクにもプロンプトのみで対応</a:t>
            </a:r>
            <a:endParaRPr kumimoji="0" lang="ja-JP" altLang="ja-JP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EF310633-3548-21D2-BA65-C3F6300046D8}"/>
              </a:ext>
            </a:extLst>
          </p:cNvPr>
          <p:cNvSpPr/>
          <p:nvPr/>
        </p:nvSpPr>
        <p:spPr>
          <a:xfrm>
            <a:off x="1739667" y="3367194"/>
            <a:ext cx="4457934" cy="149476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sz="1400" dirty="0">
                <a:solidFill>
                  <a:schemeClr val="tx1"/>
                </a:solidFill>
              </a:rPr>
              <a:t>ロボット用の高品質データは収集コストが極めて高く、簡単なタスクの教示にも多くの遠隔操作データが必要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sz="1400" dirty="0">
                <a:solidFill>
                  <a:schemeClr val="tx1"/>
                </a:solidFill>
              </a:rPr>
              <a:t>主流の</a:t>
            </a:r>
            <a:r>
              <a:rPr lang="en-US" altLang="ja-JP" sz="1400" dirty="0">
                <a:solidFill>
                  <a:schemeClr val="tx1"/>
                </a:solidFill>
              </a:rPr>
              <a:t>VLA</a:t>
            </a:r>
            <a:r>
              <a:rPr lang="ja-JP" altLang="en-US" sz="1400" dirty="0">
                <a:solidFill>
                  <a:schemeClr val="tx1"/>
                </a:solidFill>
              </a:rPr>
              <a:t>は</a:t>
            </a:r>
            <a:r>
              <a:rPr lang="en-US" altLang="ja-JP" sz="1400" dirty="0">
                <a:solidFill>
                  <a:schemeClr val="tx1"/>
                </a:solidFill>
              </a:rPr>
              <a:t>VLM</a:t>
            </a:r>
            <a:r>
              <a:rPr lang="ja-JP" altLang="en-US" sz="1400" dirty="0">
                <a:solidFill>
                  <a:schemeClr val="tx1"/>
                </a:solidFill>
              </a:rPr>
              <a:t>由来のため視覚・意味理解に偏り、物理動力学の予測が弱い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sz="1400" dirty="0">
                <a:solidFill>
                  <a:schemeClr val="tx1"/>
                </a:solidFill>
              </a:rPr>
              <a:t>動画データは接触・変形・慣性等の物理特性を豊富に含むが、行動ラベルがなく従来は学習に活用しにくかった</a:t>
            </a:r>
            <a:endParaRPr kumimoji="0" lang="ja-JP" altLang="ja-JP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AF6DD731-929C-C1B2-FFD6-DCDC6ECC6A43}"/>
              </a:ext>
            </a:extLst>
          </p:cNvPr>
          <p:cNvSpPr/>
          <p:nvPr/>
        </p:nvSpPr>
        <p:spPr>
          <a:xfrm>
            <a:off x="1739667" y="4958422"/>
            <a:ext cx="4457934" cy="149474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ja-JP" sz="1400" dirty="0">
                <a:solidFill>
                  <a:schemeClr val="tx1"/>
                </a:solidFill>
              </a:rPr>
              <a:t>Cosmos Predict</a:t>
            </a:r>
            <a:r>
              <a:rPr lang="ja-JP" altLang="en-US" sz="1400" dirty="0">
                <a:solidFill>
                  <a:schemeClr val="tx1"/>
                </a:solidFill>
              </a:rPr>
              <a:t>による物理整合的な動画生成：</a:t>
            </a:r>
            <a:br>
              <a:rPr lang="en-US" altLang="ja-JP" sz="1400" dirty="0">
                <a:solidFill>
                  <a:schemeClr val="tx1"/>
                </a:solidFill>
              </a:rPr>
            </a:br>
            <a:r>
              <a:rPr lang="ja-JP" altLang="en-US" sz="1400" dirty="0">
                <a:solidFill>
                  <a:schemeClr val="tx1"/>
                </a:solidFill>
              </a:rPr>
              <a:t>接触・変形・慣性等の物理現象を含む合成データを生成し、データ拡張の質が従来手法より優位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marL="285750" lvl="0" indent="-28575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ja-JP" altLang="en-US" sz="1400" dirty="0">
                <a:solidFill>
                  <a:schemeClr val="tx1"/>
                </a:solidFill>
              </a:rPr>
              <a:t>照明・天候・テクスチャ等の環境バリエーションを大規模に生成し、数日で「千年分の経験」を獲得</a:t>
            </a:r>
            <a:br>
              <a:rPr lang="ja-JP" altLang="en-US" sz="1400" dirty="0">
                <a:solidFill>
                  <a:schemeClr val="tx1"/>
                </a:solidFill>
              </a:rPr>
            </a:br>
            <a:endParaRPr lang="en-US" altLang="ja-JP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302559B7-BD92-9195-BC8B-9E80D3ADA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516" y="1849128"/>
            <a:ext cx="4612234" cy="3292181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A4E3373-B135-D286-8194-2CB8E297876E}"/>
              </a:ext>
            </a:extLst>
          </p:cNvPr>
          <p:cNvSpPr txBox="1"/>
          <p:nvPr/>
        </p:nvSpPr>
        <p:spPr>
          <a:xfrm>
            <a:off x="6984996" y="5172717"/>
            <a:ext cx="42437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hlinkClick r:id="rId3"/>
              </a:rPr>
              <a:t>1X World Model | From Video to Action: A New Way Robots Learn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1365281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テーマ">
  <a:themeElements>
    <a:clrScheme name="ユーザー定義 1">
      <a:dk1>
        <a:srgbClr val="000000"/>
      </a:dk1>
      <a:lt1>
        <a:srgbClr val="FFFFFF"/>
      </a:lt1>
      <a:dk2>
        <a:srgbClr val="0072BC"/>
      </a:dk2>
      <a:lt2>
        <a:srgbClr val="C8C8C8"/>
      </a:lt2>
      <a:accent1>
        <a:srgbClr val="011B69"/>
      </a:accent1>
      <a:accent2>
        <a:srgbClr val="20AEE5"/>
      </a:accent2>
      <a:accent3>
        <a:srgbClr val="008A7C"/>
      </a:accent3>
      <a:accent4>
        <a:srgbClr val="00A73C"/>
      </a:accent4>
      <a:accent5>
        <a:srgbClr val="D6C677"/>
      </a:accent5>
      <a:accent6>
        <a:srgbClr val="DB3C23"/>
      </a:accent6>
      <a:hlink>
        <a:srgbClr val="0000FF"/>
      </a:hlink>
      <a:folHlink>
        <a:srgbClr val="941AFF"/>
      </a:folHlink>
    </a:clrScheme>
    <a:fontScheme name="Meiryo UI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15177</TotalTime>
  <Words>269</Words>
  <Application>Microsoft Office PowerPoint</Application>
  <PresentationFormat>ワイド画面</PresentationFormat>
  <Paragraphs>15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Meiryo UI</vt:lpstr>
      <vt:lpstr>ＭＳ Ｐゴシック</vt:lpstr>
      <vt:lpstr>Arial</vt:lpstr>
      <vt:lpstr>Calibri</vt:lpstr>
      <vt:lpstr>1_Office テーマ</vt:lpstr>
      <vt:lpstr>事例- 巨大動画モデル/世界モデル： Cosmos Predict 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Sato Shohei</cp:lastModifiedBy>
  <cp:revision>53</cp:revision>
  <cp:lastPrinted>2018-06-13T22:31:49Z</cp:lastPrinted>
  <dcterms:created xsi:type="dcterms:W3CDTF">2009-06-15T08:28:54Z</dcterms:created>
  <dcterms:modified xsi:type="dcterms:W3CDTF">2026-05-26T07:16:07Z</dcterms:modified>
</cp:coreProperties>
</file>